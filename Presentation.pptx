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41414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41414"/>
                </a:solidFill>
                <a:latin typeface="Arial"/>
              </a:rPr>
              <a:t>Rating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C20-41E1-ADC0-19B47E22FDD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C20-41E1-ADC0-19B47E22FDD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C20-41E1-ADC0-19B47E22FDD4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7C20-41E1-ADC0-19B47E22FDD4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7C20-41E1-ADC0-19B47E22FDD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4141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1★</c:v>
                </c:pt>
                <c:pt idx="1">
                  <c:v>2★</c:v>
                </c:pt>
                <c:pt idx="2">
                  <c:v>3★</c:v>
                </c:pt>
                <c:pt idx="3">
                  <c:v>4★</c:v>
                </c:pt>
                <c:pt idx="4">
                  <c:v>5★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59000</c:v>
                </c:pt>
                <c:pt idx="1">
                  <c:v>118000</c:v>
                </c:pt>
                <c:pt idx="2">
                  <c:v>349000</c:v>
                </c:pt>
                <c:pt idx="3">
                  <c:v>401000</c:v>
                </c:pt>
                <c:pt idx="4">
                  <c:v>273000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C20-41E1-ADC0-19B47E22FD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4F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41414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41414"/>
                </a:solidFill>
                <a:latin typeface="Arial"/>
              </a:rPr>
              <a:t>RMSE  (lower is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645-45E1-8709-CB4268DD3692}"/>
              </c:ext>
            </c:extLst>
          </c:dPt>
          <c:dPt>
            <c:idx val="1"/>
            <c:invertIfNegative val="0"/>
            <c:bubble3D val="0"/>
            <c:spPr>
              <a:solidFill>
                <a:srgbClr val="8888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645-45E1-8709-CB4268DD3692}"/>
              </c:ext>
            </c:extLst>
          </c:dPt>
          <c:dPt>
            <c:idx val="2"/>
            <c:invertIfNegative val="0"/>
            <c:bubble3D val="0"/>
            <c:spPr>
              <a:solidFill>
                <a:srgbClr val="BBBBB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645-45E1-8709-CB4268DD369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141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SVD</c:v>
                </c:pt>
                <c:pt idx="1">
                  <c:v>Item-CF</c:v>
                </c:pt>
                <c:pt idx="2">
                  <c:v>ALS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0.90439999999999998</c:v>
                </c:pt>
                <c:pt idx="1">
                  <c:v>0.95879999999999999</c:v>
                </c:pt>
                <c:pt idx="2">
                  <c:v>1.8173999999999999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645-45E1-8709-CB4268DD36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2000000000000002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4F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41414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41414"/>
                </a:solidFill>
                <a:latin typeface="Arial"/>
              </a:rPr>
              <a:t>MAP@10  (higher is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MAP@10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054-4045-BB7A-5A0A261FB5DC}"/>
              </c:ext>
            </c:extLst>
          </c:dPt>
          <c:dPt>
            <c:idx val="1"/>
            <c:invertIfNegative val="0"/>
            <c:bubble3D val="0"/>
            <c:spPr>
              <a:solidFill>
                <a:srgbClr val="8888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054-4045-BB7A-5A0A261FB5DC}"/>
              </c:ext>
            </c:extLst>
          </c:dPt>
          <c:dPt>
            <c:idx val="2"/>
            <c:invertIfNegative val="0"/>
            <c:bubble3D val="0"/>
            <c:spPr>
              <a:solidFill>
                <a:srgbClr val="BBBBB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054-4045-BB7A-5A0A261FB5D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141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SVD</c:v>
                </c:pt>
                <c:pt idx="1">
                  <c:v>Item-CF</c:v>
                </c:pt>
                <c:pt idx="2">
                  <c:v>ALS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1.4E-2</c:v>
                </c:pt>
                <c:pt idx="1">
                  <c:v>8.9999999999999993E-3</c:v>
                </c:pt>
                <c:pt idx="2">
                  <c:v>5.0000000000000001E-4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054-4045-BB7A-5A0A261FB5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02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4F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4554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project. Mention the Netflix Prize competition and the scale of the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core challenges. Sparsity is the defining problem — it motivates all model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three models: SVD for accuracy, ItemCF for interpretability, ALS as a comparison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positivity bias and the long-tail. Both have implications for how we set the relevance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SVD wins on both metrics. Key takeaway: algorithm-data alignment matters — ALS is designed for implicit feedback, not star ratings.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different user histories lead to very different but internally consistent recommendation lists.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four key lessons. Emphasise practical implications for a real streaming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roadmap. NCF and temporal dynamics are the highest-impact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Personalized Content Discovery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by- Anuj Jangir &amp; Rakshit Raj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40965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24M+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44622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40965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017520" y="44622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40965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17,770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44622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040880" y="40965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040880" y="44622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955280" y="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54864" cy="4572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users interact daily with platforms that recommend what to watch next. Getting this right drives retention, engagement, and discovery — but the data is extremely sparse and user preferences are deeply personal.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E50914"/>
          </a:solidFill>
          <a:ln w="6350">
            <a:solidFill>
              <a:srgbClr val="E5091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0299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98.9%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7432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user-movie pairs have no rating at all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68880" y="192024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20299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27432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popular movies get most ratings; majority are niche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192024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20299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Positivity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9160" y="27432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tend to rate only what they liked (mean 3.60/5)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66560" y="192024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20299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0" y="27432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users &amp; items have no interaction history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955280" y="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54864" cy="4572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Models, One Goal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2697480" cy="3246120"/>
          </a:xfrm>
          <a:prstGeom prst="roundRect">
            <a:avLst>
              <a:gd name="adj" fmla="val 3390"/>
            </a:avLst>
          </a:prstGeom>
          <a:solidFill>
            <a:srgbClr val="141414"/>
          </a:solidFill>
          <a:ln w="6350">
            <a:solidFill>
              <a:srgbClr val="14141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13533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29768" y="17465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Factorization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066544"/>
            <a:ext cx="2148840" cy="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57984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Decomposes the user-item matrix into latent factor vectors. Learns hidden taste dimensions from sparse ratings. Includes user/item bias terms.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37673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factors · 20 epochs · LR 0.005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72968" y="1234440"/>
            <a:ext cx="2697480" cy="3246120"/>
          </a:xfrm>
          <a:prstGeom prst="roundRect">
            <a:avLst>
              <a:gd name="adj" fmla="val 3390"/>
            </a:avLst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82696" y="13533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Item-CF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82696" y="17465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Item-Based Collab. Filtering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47288" y="2066544"/>
            <a:ext cx="21488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2157984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movies similar to what you've rated using cosine similarity. Predicts ratings via a weighted average of similar-item ratings.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82696" y="37673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20 neighbours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25896" y="1234440"/>
            <a:ext cx="2697480" cy="3246120"/>
          </a:xfrm>
          <a:prstGeom prst="roundRect">
            <a:avLst>
              <a:gd name="adj" fmla="val 3390"/>
            </a:avLst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35624" y="13533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135624" y="17465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Alternating Least Squares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0216" y="2066544"/>
            <a:ext cx="21488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63056" y="2157984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ratings as confidence-weighted implicit feedback. Alternates between solving user and item factors as least-squares problems.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35624" y="37673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factors · alpha 40 · 20 iters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" y="464515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Raw Data  →  Filter (min 20 ratings)  →  Encode IDs  →  80/20 Stratified Split  →  Train  →  Evaluate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from EDA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955280" y="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54864" cy="4572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AFAFA"/>
          </a:solidFill>
          <a:ln w="6350">
            <a:solidFill>
              <a:srgbClr val="E8E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29844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Sparsity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0116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1.1% filled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377440" y="11887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AFAFA"/>
          </a:solidFill>
          <a:ln w="6350">
            <a:solidFill>
              <a:srgbClr val="E8E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68880" y="129844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68880" y="1755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Rating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20116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5.0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34840" y="11887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AFAFA"/>
          </a:solidFill>
          <a:ln w="6350">
            <a:solidFill>
              <a:srgbClr val="E8E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26280" y="129844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26280" y="1755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Ratings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26280" y="20116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92240" y="11887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AFAFA"/>
          </a:solidFill>
          <a:ln w="6350">
            <a:solidFill>
              <a:srgbClr val="E8E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0" y="129844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583680" y="1755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Items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20116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≥ 3.5</a:t>
            </a:r>
            <a:endParaRPr lang="en-US" sz="85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320040" y="2514600"/>
          <a:ext cx="40233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Text 21"/>
          <p:cNvSpPr/>
          <p:nvPr/>
        </p:nvSpPr>
        <p:spPr>
          <a:xfrm>
            <a:off x="4526280" y="2514600"/>
            <a:ext cx="4297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4-star is the most common rating — users rarely give 1 or 2 stars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Power-law user distribution: top 1% of users account for a disproportionate share of all ratings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Pirates of the Caribbean tops popularity with ~10K ratings in the sample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Serialised TV content (Lost, Stargate, Star Trek) clusters naturally in recommendations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user (24 ratings) has a very sparse profile — models must generalise from limited evidence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955280" y="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54864" cy="4572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2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20040" y="1188720"/>
          <a:ext cx="41148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4709160" y="1188720"/>
          <a:ext cx="41148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67328"/>
          <a:ext cx="8503920" cy="102412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MAP@10 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50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50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50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overall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Item-CF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RMSE, weaker ranking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1.8174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tool for explicit ratings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Examples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955280" y="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54864" cy="4572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Top-10 in Action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4023360" cy="3246120"/>
          </a:xfrm>
          <a:prstGeom prst="roundRect">
            <a:avLst>
              <a:gd name="adj" fmla="val 2817"/>
            </a:avLst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34440"/>
            <a:ext cx="4023360" cy="384048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344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250  ·  Action / Sci-Fi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664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Liked: The Mummy, Jaws, Pirates of the Caribbean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199339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13232" y="19933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Futurama: Monster Robot Maniac Fun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11880" y="199339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4.54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45973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3232" y="245973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Stargate SG-1: Season 8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11880" y="245973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29260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13232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Trek: Voyager: Season 5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11880" y="292608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3392424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13232" y="339242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Sixth Sense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11880" y="3392424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3858768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13232" y="38587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Lost: Season 1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11880" y="385876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4.43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1234440"/>
            <a:ext cx="4023360" cy="3246120"/>
          </a:xfrm>
          <a:prstGeom prst="roundRect">
            <a:avLst>
              <a:gd name="adj" fmla="val 2817"/>
            </a:avLst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1234440"/>
            <a:ext cx="4023360" cy="384048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2344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1086  ·  Comedy / Classic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1664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Liked: Clerks, American Beauty, Ace Ventura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92040" y="199339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193792" y="19933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Simpsons: Season 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092440" y="199339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92040" y="245973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193792" y="245973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Yojimbo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092440" y="245973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4.61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92040" y="29260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193792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Simpsons: Treehouse of Horror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092440" y="292608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4.57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92040" y="3392424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193792" y="339242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Guy: Sweet Collection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092440" y="3392424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4.48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92040" y="3858768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193792" y="38587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Curb Your Enthusiasm S3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092440" y="385876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4.48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0040" y="4590288"/>
            <a:ext cx="8503920" cy="384048"/>
          </a:xfrm>
          <a:prstGeom prst="roundRect">
            <a:avLst>
              <a:gd name="adj" fmla="val 14286"/>
            </a:avLst>
          </a:prstGeom>
          <a:solidFill>
            <a:srgbClr val="FFF0F0"/>
          </a:solidFill>
          <a:ln w="6350">
            <a:solidFill>
              <a:srgbClr val="F0C0C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5902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'Futurama'?  User rated The Mummy, Jaws &amp; Pirates highly — adventure/sci-fi signal. SVD's latent space places these near animated sci-fi, explaining the recommendation.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955280" y="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54864" cy="4572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" y="1399032"/>
            <a:ext cx="420624" cy="420624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399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78408" y="139903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Algorithm-Data Alignment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89280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was built for implicit feedback. On explicit star ratings, SVD wins decisively. Choosing the right model for your data type matters more than model complexity.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28032" y="1399032"/>
            <a:ext cx="420624" cy="420624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1399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21808" y="139903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≠ Ranking Quality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89280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Item-CF and SVD have similar RMSE (0.96 vs 0.90), but SVD's MAP@10 is 56% higher. Accurate point predictions do not guarantee good ranked lists.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06324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" y="3227832"/>
            <a:ext cx="420624" cy="420624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3227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78408" y="322783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Factors Capture Taste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72160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naturally groups serialised content (TV seasons) and genre clusters. Users who rated one season consistently receive other seasons — a real business win.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306324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28032" y="3227832"/>
            <a:ext cx="420624" cy="420624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3227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21808" y="322783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is Manageable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372160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at 98.9% sparsity with only 5% of users sampled, SVD achieves RMSE &lt; 0.91. Matrix factorization generalises well from limited observations.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go from here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70992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CF (NCF)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02996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dot-product with MLP layers to capture non-linear user-item interactions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123444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3716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37560" y="170992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Dynamics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202996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TimeSVD++: exploit rating timestamps — user tastes drift over time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80760" y="123444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3716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170992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Content Model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202996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genre/cast metadata to solve cold-start for new users and new movies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06324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2004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353872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 Training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85876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data files + GPU acceleration → expected RMSE drop below 0.87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306324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37560" y="32004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37560" y="353872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Re-ranking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385876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 top-K to balance relevance with novelty and genre diversity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80760" y="306324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32004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17920" y="353872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as API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385876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recommendations via a FastAPI endpoint with real-time scoring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Prize Dataset  ·  Recommendation Systems  ·  Machine Learning Competition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956</Words>
  <Application>Microsoft Office PowerPoint</Application>
  <PresentationFormat>On-screen Show (16:9)</PresentationFormat>
  <Paragraphs>179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Recommendation Systems — Netflix Prize</dc:title>
  <dc:subject>PptxGenJS Presentation</dc:subject>
  <dc:creator>PptxGenJS</dc:creator>
  <cp:lastModifiedBy>Anuj Jangir</cp:lastModifiedBy>
  <cp:revision>3</cp:revision>
  <dcterms:created xsi:type="dcterms:W3CDTF">2026-06-11T09:39:09Z</dcterms:created>
  <dcterms:modified xsi:type="dcterms:W3CDTF">2026-06-11T11:11:13Z</dcterms:modified>
</cp:coreProperties>
</file>